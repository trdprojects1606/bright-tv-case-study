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Sessions 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2B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&lt;18</c:v>
                  </c:pt>
                  <c:pt idx="1">
                    <c:v>18–25</c:v>
                  </c:pt>
                  <c:pt idx="2">
                    <c:v>25–35</c:v>
                  </c:pt>
                  <c:pt idx="3">
                    <c:v>35–50</c:v>
                  </c:pt>
                  <c:pt idx="4">
                    <c:v>50–65</c:v>
                  </c:pt>
                  <c:pt idx="5">
                    <c:v>65+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417</c:v>
                </c:pt>
                <c:pt idx="1">
                  <c:v>1733</c:v>
                </c:pt>
                <c:pt idx="2">
                  <c:v>4118</c:v>
                </c:pt>
                <c:pt idx="3">
                  <c:v>2972</c:v>
                </c:pt>
                <c:pt idx="4">
                  <c:v>452</c:v>
                </c:pt>
                <c:pt idx="5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Watch Hours by Province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Watch Hours</c:v>
                </c:pt>
              </c:strCache>
            </c:strRef>
          </c:tx>
          <c:spPr>
            <a:solidFill>
              <a:srgbClr val="1A2B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2B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Gauteng</c:v>
                  </c:pt>
                  <c:pt idx="1">
                    <c:v>W Cape</c:v>
                  </c:pt>
                  <c:pt idx="2">
                    <c:v>KZN</c:v>
                  </c:pt>
                  <c:pt idx="3">
                    <c:v>Mpumalanga</c:v>
                  </c:pt>
                  <c:pt idx="4">
                    <c:v>Limpopo</c:v>
                  </c:pt>
                  <c:pt idx="5">
                    <c:v>E Cape</c:v>
                  </c:pt>
                  <c:pt idx="6">
                    <c:v>Other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554</c:v>
                </c:pt>
                <c:pt idx="1">
                  <c:v>300</c:v>
                </c:pt>
                <c:pt idx="2">
                  <c:v>158</c:v>
                </c:pt>
                <c:pt idx="3">
                  <c:v>131</c:v>
                </c:pt>
                <c:pt idx="4">
                  <c:v>105</c:v>
                </c:pt>
                <c:pt idx="5">
                  <c:v>116</c:v>
                </c:pt>
                <c:pt idx="6">
                  <c:v>159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Hourly Watch Activity (total hours, SAST)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Watch Hours</c:v>
                </c:pt>
              </c:strCache>
            </c:strRef>
          </c:tx>
          <c:spPr>
            <a:solidFill>
              <a:srgbClr val="028090"/>
            </a:solidFill>
            <a:ln w="254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25.9</c:v>
                </c:pt>
                <c:pt idx="1">
                  <c:v>10.5</c:v>
                </c:pt>
                <c:pt idx="2">
                  <c:v>21.9</c:v>
                </c:pt>
                <c:pt idx="3">
                  <c:v>10</c:v>
                </c:pt>
                <c:pt idx="4">
                  <c:v>8.4</c:v>
                </c:pt>
                <c:pt idx="5">
                  <c:v>9.9</c:v>
                </c:pt>
                <c:pt idx="6">
                  <c:v>22.5</c:v>
                </c:pt>
                <c:pt idx="7">
                  <c:v>34</c:v>
                </c:pt>
                <c:pt idx="8">
                  <c:v>47.7</c:v>
                </c:pt>
                <c:pt idx="9">
                  <c:v>49.1</c:v>
                </c:pt>
                <c:pt idx="10">
                  <c:v>78.9</c:v>
                </c:pt>
                <c:pt idx="11">
                  <c:v>89.9</c:v>
                </c:pt>
                <c:pt idx="12">
                  <c:v>112</c:v>
                </c:pt>
                <c:pt idx="13">
                  <c:v>96.3</c:v>
                </c:pt>
                <c:pt idx="14">
                  <c:v>117.5</c:v>
                </c:pt>
                <c:pt idx="15">
                  <c:v>102.6</c:v>
                </c:pt>
                <c:pt idx="16">
                  <c:v>118.4</c:v>
                </c:pt>
                <c:pt idx="17">
                  <c:v>127</c:v>
                </c:pt>
                <c:pt idx="18">
                  <c:v>98.2</c:v>
                </c:pt>
                <c:pt idx="19">
                  <c:v>83.7</c:v>
                </c:pt>
                <c:pt idx="20">
                  <c:v>73.7</c:v>
                </c:pt>
                <c:pt idx="21">
                  <c:v>67.9</c:v>
                </c:pt>
                <c:pt idx="22">
                  <c:v>63.9</c:v>
                </c:pt>
                <c:pt idx="23">
                  <c:v>53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Sessions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2B5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957</c:v>
                </c:pt>
                <c:pt idx="1">
                  <c:v>1322</c:v>
                </c:pt>
                <c:pt idx="2">
                  <c:v>1553</c:v>
                </c:pt>
                <c:pt idx="3">
                  <c:v>1441</c:v>
                </c:pt>
                <c:pt idx="4">
                  <c:v>1675</c:v>
                </c:pt>
                <c:pt idx="5">
                  <c:v>1633</c:v>
                </c:pt>
                <c:pt idx="6">
                  <c:v>1419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2B5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2199</c:v>
                </c:pt>
                <c:pt idx="1">
                  <c:v>2980</c:v>
                </c:pt>
                <c:pt idx="2">
                  <c:v>4816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Watch Hours</c:v>
                </c:pt>
              </c:strCache>
            </c:strRef>
          </c:tx>
          <c:spPr>
            <a:solidFill>
              <a:srgbClr val="E05C5C"/>
            </a:solidFill>
            <a:ln w="38100" cap="flat">
              <a:solidFill>
                <a:srgbClr val="E05C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5C5C"/>
              </a:solidFill>
              <a:ln w="9525" cap="flat">
                <a:solidFill>
                  <a:srgbClr val="E05C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291</c:v>
                </c:pt>
                <c:pt idx="1">
                  <c:v>393</c:v>
                </c:pt>
                <c:pt idx="2">
                  <c:v>839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"/>
        </c:scaling>
        <c:delete val="0"/>
        <c:axPos val="l"/>
        <c:majorGridlines>
          <c:spPr>
            <a:ln w="6350" cap="flat">
              <a:solidFill>
                <a:srgbClr val="E8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Watch Hours by Channel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Watch Hours</c:v>
                </c:pt>
              </c:strCache>
            </c:strRef>
          </c:tx>
          <c:spPr>
            <a:solidFill>
              <a:srgbClr val="1A2B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2B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ICC Cricket 2011</c:v>
                  </c:pt>
                  <c:pt idx="1">
                    <c:v>SuperSport Live</c:v>
                  </c:pt>
                  <c:pt idx="2">
                    <c:v>Channel O</c:v>
                  </c:pt>
                  <c:pt idx="3">
                    <c:v>Trace TV</c:v>
                  </c:pt>
                  <c:pt idx="4">
                    <c:v>SuperSport Blitz</c:v>
                  </c:pt>
                  <c:pt idx="5">
                    <c:v>Boomerang</c:v>
                  </c:pt>
                  <c:pt idx="6">
                    <c:v>Cartoon Network</c:v>
                  </c:pt>
                  <c:pt idx="7">
                    <c:v>CNN</c:v>
                  </c:pt>
                  <c:pt idx="8">
                    <c:v>Africa Magic</c:v>
                  </c:pt>
                  <c:pt idx="9">
                    <c:v>E! Entertainment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412</c:v>
                </c:pt>
                <c:pt idx="1">
                  <c:v>313</c:v>
                </c:pt>
                <c:pt idx="2">
                  <c:v>193</c:v>
                </c:pt>
                <c:pt idx="3">
                  <c:v>192</c:v>
                </c:pt>
                <c:pt idx="4">
                  <c:v>91</c:v>
                </c:pt>
                <c:pt idx="5">
                  <c:v>73</c:v>
                </c:pt>
                <c:pt idx="6">
                  <c:v>70</c:v>
                </c:pt>
                <c:pt idx="7">
                  <c:v>68</c:v>
                </c:pt>
                <c:pt idx="8">
                  <c:v>49</c:v>
                </c:pt>
                <c:pt idx="9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Avg Min per Session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Min/Session</c:v>
                </c:pt>
              </c:strCache>
            </c:strRef>
          </c:tx>
          <c:spPr>
            <a:solidFill>
              <a:srgbClr val="1A2B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2B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ICC Cricket</c:v>
                  </c:pt>
                  <c:pt idx="1">
                    <c:v>Trace TV</c:v>
                  </c:pt>
                  <c:pt idx="2">
                    <c:v>Channel O</c:v>
                  </c:pt>
                  <c:pt idx="3">
                    <c:v>SuperSport Live</c:v>
                  </c:pt>
                  <c:pt idx="4">
                    <c:v>CNN</c:v>
                  </c:pt>
                  <c:pt idx="5">
                    <c:v>Boomerang</c:v>
                  </c:pt>
                  <c:pt idx="6">
                    <c:v>E! Entmt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16.9</c:v>
                </c:pt>
                <c:pt idx="1">
                  <c:v>12.1</c:v>
                </c:pt>
                <c:pt idx="2">
                  <c:v>11</c:v>
                </c:pt>
                <c:pt idx="3">
                  <c:v>11.5</c:v>
                </c:pt>
                <c:pt idx="4">
                  <c:v>8.1</c:v>
                </c:pt>
                <c:pt idx="5">
                  <c:v>6.2</c:v>
                </c:pt>
                <c:pt idx="6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05C5C"/>
                </a:solidFill>
                <a:latin typeface="Arial"/>
              </a:defRPr>
            </a:pPr>
            <a:r>
              <a:rPr sz="1000" b="0" i="0" u="none" strike="noStrike">
                <a:solidFill>
                  <a:srgbClr val="E05C5C"/>
                </a:solidFill>
                <a:latin typeface="Arial"/>
              </a:rPr>
              <a:t>Low days (8 Feb, 27 Jan, 17 Feb)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Watch time (sec)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1A2B5E"/>
              </a:solidFill>
              <a:effectLst/>
            </c:spPr>
          </c:dPt>
          <c:dPt>
            <c:idx val="2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bubble3D val="0"/>
            <c:spPr>
              <a:solidFill>
                <a:srgbClr val="02C39A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bubble3D val="0"/>
            <c:spPr>
              <a:solidFill>
                <a:srgbClr val="E8EEF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Channel O</c:v>
                </c:pt>
                <c:pt idx="1">
                  <c:v>SuperSport Blitz</c:v>
                </c:pt>
                <c:pt idx="2">
                  <c:v>Africa Magic</c:v>
                </c:pt>
                <c:pt idx="3">
                  <c:v>Trace TV</c:v>
                </c:pt>
                <c:pt idx="4">
                  <c:v>Boomerang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11667</c:v>
                </c:pt>
                <c:pt idx="1">
                  <c:v>9346</c:v>
                </c:pt>
                <c:pt idx="2">
                  <c:v>6575</c:v>
                </c:pt>
                <c:pt idx="3">
                  <c:v>5406</c:v>
                </c:pt>
                <c:pt idx="4">
                  <c:v>4972</c:v>
                </c:pt>
                <c:pt idx="5">
                  <c:v>6000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2809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28090"/>
                </a:solidFill>
                <a:latin typeface="Arial"/>
              </a:rPr>
              <a:t>High days (30 Mar, 24 Mar, 12 Mar)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Watch time (sec)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2B5E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ICC Cricket</c:v>
                </c:pt>
                <c:pt idx="1">
                  <c:v>SuperSport Live</c:v>
                </c:pt>
                <c:pt idx="2">
                  <c:v>Boomerang</c:v>
                </c:pt>
                <c:pt idx="3">
                  <c:v>Channel O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449812</c:v>
                </c:pt>
                <c:pt idx="1">
                  <c:v>228038</c:v>
                </c:pt>
                <c:pt idx="2">
                  <c:v>16458</c:v>
                </c:pt>
                <c:pt idx="3">
                  <c:v>15822</c:v>
                </c:pt>
                <c:pt idx="4">
                  <c:v>35000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0D2147"/>
          </a:solidFill>
          <a:ln w="12700">
            <a:solidFill>
              <a:srgbClr val="0D21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BrightTV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2C39A"/>
                </a:solidFill>
              </a:rPr>
              <a:t>Viewership Analytics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633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B4CC"/>
                </a:solidFill>
              </a:rPr>
              <a:t>Customer Value Management  |  Subscription Growth Strategy  |  Q1 2016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520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0"/>
                </a:solidFill>
              </a:rPr>
              <a:t>Key findings on user trends, consumption drivers, content gaps, and growth initiatives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4069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E"/>
                </a:solidFill>
              </a:rPr>
              <a:t>Dataset: 5,375 subscribers  •  10,000 sessions  •  Jan – Mar 2016 (SAST)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Top-line findings across the 3-month observation period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20240" cy="914400"/>
          </a:xfrm>
          <a:prstGeom prst="rect">
            <a:avLst/>
          </a:prstGeom>
          <a:solidFill>
            <a:srgbClr val="F5F8FA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9144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98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5,375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4356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REGISTERED SUBSCRIBERS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1848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 user profiles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31720" y="960120"/>
            <a:ext cx="1920240" cy="914400"/>
          </a:xfrm>
          <a:prstGeom prst="rect">
            <a:avLst/>
          </a:prstGeom>
          <a:solidFill>
            <a:srgbClr val="F5F8FA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960120"/>
            <a:ext cx="54864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0698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82%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68880" y="14356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ACTIVE ENGAGEMENT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161848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4,386 subscribers watched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89120" y="960120"/>
            <a:ext cx="1920240" cy="914400"/>
          </a:xfrm>
          <a:prstGeom prst="rect">
            <a:avLst/>
          </a:prstGeom>
          <a:solidFill>
            <a:srgbClr val="F5F8FA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960120"/>
            <a:ext cx="54864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0698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10,000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26280" y="14356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TOTAL SESSIONS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161848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Avg 2.3 per active user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46520" y="960120"/>
            <a:ext cx="2423160" cy="914400"/>
          </a:xfrm>
          <a:prstGeom prst="rect">
            <a:avLst/>
          </a:prstGeom>
          <a:solidFill>
            <a:srgbClr val="F5F8FA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960120"/>
            <a:ext cx="54864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06984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1,523 hrs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583680" y="143560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TOTAL WATCH TIME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1618488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Avg session: 9.1 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057400"/>
            <a:ext cx="8595360" cy="36576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E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2606040"/>
            <a:ext cx="8595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606040"/>
            <a:ext cx="54864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65176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Sessions grew 119% from January (2,199) to March (4,816) — strong momentum heading into Q2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108960"/>
            <a:ext cx="8595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108960"/>
            <a:ext cx="54864" cy="40233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1546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Live sports are the #1 consumption driver — ICC Cricket pushed one day to 86.5h vs. a 12h daily average (7× spike)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3611880"/>
            <a:ext cx="8595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611880"/>
            <a:ext cx="54864" cy="402336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6576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18% of subscribers (989 users) have never watched — a quick-win re-engagement opportunity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4114800"/>
            <a:ext cx="8595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114800"/>
            <a:ext cx="54864" cy="402336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16052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Female subscribers make up only 10% of the base — a significant untapped growth segment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BrightTV Viewership Analytics  |  Confidential  |  Slide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User Profile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Who are BrightTV's subscribers?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0" y="914400"/>
          <a:ext cx="4297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977640"/>
            <a:ext cx="8595360" cy="594360"/>
          </a:xfrm>
          <a:prstGeom prst="rect">
            <a:avLst/>
          </a:prstGeom>
          <a:solidFill>
            <a:srgbClr val="E0F4F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5060"/>
                </a:solidFill>
              </a:rPr>
              <a:t>Demographics snapshot:  Male 73% · Female 10% · Unknown 4%  |  Core age: 25–35 (41% of sessions)  |  Gauteng + W Cape = 56% of all watch hours  |  Black subscribers = largest group (34%)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BrightTV Viewership Analytics  |  Confidential  |  Slide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Consumption Trends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When are subscribers watching? (SAST = UTC + 2 hours)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760720" y="914400"/>
          <a:ext cx="3108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794760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74320" y="3794760"/>
            <a:ext cx="2651760" cy="5486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38770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14:00–17:00 SAST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65760" y="415137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Peak window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154680" y="3794760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154680" y="379476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46120" y="38770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10.9 min (Sat)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46120" y="415137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Weekend avg session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035040" y="3794760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35040" y="3794760"/>
            <a:ext cx="265176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26480" y="38770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7.2 min (Mon)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126480" y="415137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Weekday avg session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BrightTV Viewership Analytics  |  Confidential  |  Slide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Monthly Growth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Sessions and watch hours: January to March 2016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914400" y="1005840"/>
          <a:ext cx="7315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97680"/>
            <a:ext cx="2651760" cy="594360"/>
          </a:xfrm>
          <a:prstGeom prst="rect">
            <a:avLst/>
          </a:prstGeom>
          <a:solidFill>
            <a:srgbClr val="E0F4F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315968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5E"/>
                </a:solidFill>
              </a:rPr>
              <a:t>+119%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460857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Session growth Jan→Mar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37560" y="4297680"/>
            <a:ext cx="2651760" cy="594360"/>
          </a:xfrm>
          <a:prstGeom prst="rect">
            <a:avLst/>
          </a:prstGeom>
          <a:solidFill>
            <a:srgbClr val="E0F4F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29000" y="4315968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5E"/>
                </a:solidFill>
              </a:rPr>
              <a:t>+188%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429000" y="460857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Watch hour growth Jan→Mar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17920" y="4297680"/>
            <a:ext cx="2651760" cy="594360"/>
          </a:xfrm>
          <a:prstGeom prst="rect">
            <a:avLst/>
          </a:prstGeom>
          <a:solidFill>
            <a:srgbClr val="E0F4F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4315968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5E"/>
                </a:solidFill>
              </a:rPr>
              <a:t>86.5h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309360" y="460857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Peak day (30 Mar — ICC Cricket)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BrightTV Viewership Analytics  |  Confidential  |  Slide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Content Performance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Top channels by total watch hours and session quality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943600" y="914400"/>
          <a:ext cx="2926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943600" y="4251960"/>
            <a:ext cx="2926080" cy="594360"/>
          </a:xfrm>
          <a:prstGeom prst="rect">
            <a:avLst/>
          </a:prstGeom>
          <a:solidFill>
            <a:srgbClr val="E0F4F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035040" y="42519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5060"/>
                </a:solidFill>
              </a:rPr>
              <a:t>ICC Cricket drives both volume AND quality — most hours watched AND longest average sessions at 16.9 min.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BrightTV Viewership Analytics  |  Confidential  |  Slide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Factors Influencing Consumption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What drives viewers to watch more?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788920" cy="36576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B5E"/>
                </a:solidFill>
              </a:rPr>
              <a:t>Biggest driver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Live sports events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3560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ICC Cricket matches pushed daily consumption to 86.5h — 7× the 12h average. No other variable comes close in impact.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960120"/>
            <a:ext cx="278892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5156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Time pattern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37560" y="12161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Time of day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43560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Peak window is 14:00–17:00 SAST. A secondary morning peak at 10:00–12:00 likely reflects lunch-break viewing.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960120"/>
            <a:ext cx="278892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05156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Weekend lift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09360" y="12161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Day of week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143560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Fri–Sat–Sun account for 48% of sessions. Saturday sessions are 51% longer than Monday's (10.9 vs 7.2 min avg).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834640"/>
            <a:ext cx="278892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2608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Audience skew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309067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Demographics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31012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25–35 year olds drive 41% of sessions. Male subscribers make up 90% of sessions despite being 73% of the base.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283464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2834640"/>
            <a:ext cx="278892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92608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Geographic concentration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37560" y="309067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Geography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331012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Gauteng alone contributes 36% of total watch hours. Urban economic hubs dominate — rural provinces are significantly underrepresented.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283464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2834640"/>
            <a:ext cx="2788920" cy="3657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92608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5C5C"/>
                </a:solidFill>
              </a:rPr>
              <a:t>Heavy-user concentration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09360" y="309067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Engagement depth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31012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Median session is just 1.8 min but average is 9.1 min — indicating a power-user tail. 75% of users have ≤3 sessions total.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BrightTV Viewership Analytics  |  Confidential  |  Slide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Low vs High Consumption Days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Understanding what drives the gap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60120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0" y="960120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434840" y="1005840"/>
            <a:ext cx="0" cy="2743200"/>
          </a:xfrm>
          <a:prstGeom prst="line">
            <a:avLst/>
          </a:prstGeom>
          <a:noFill/>
          <a:ln w="12700">
            <a:solidFill>
              <a:srgbClr val="E8EEF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74320" y="3886200"/>
            <a:ext cx="859536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Key insight: The difference between a low and high day is almost entirely explained by one variable — live sports. On high days, ICC Cricket and SuperSport Live Events alone account for 93% of all watch time.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BrightTV Viewership Analytics  |  Confidential  |  Slide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Content Recommendations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What to schedule on low-consumption days to lift viewership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78892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Entertainment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Music &amp; entertainment specials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3560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Channel O and Trace TV lead on low-consumption days. Schedule music countdowns, artist documentaries, and new show premieres specifically on Monday/Tuesday to create habitual viewing.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960120"/>
            <a:ext cx="2788920" cy="36576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5156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B5E"/>
                </a:solidFill>
              </a:rPr>
              <a:t>Local drama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37560" y="12161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Weekly Africa Magic premieres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43560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Africa Magic has a loyal, consistent audience. Scheduling original premieres or reality-show cliffhangers on low days creates appointment viewing and mid-week check-ins.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960120"/>
            <a:ext cx="278892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05156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Kids &amp; family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09360" y="12161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Kids' content morning blocks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143560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Boomerang and Cartoon Network show up consistently even on low days. A dedicated themed morning block (8:00–11:00 SAST) on weekdays can capture school-holiday family audiences.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834640"/>
            <a:ext cx="2788920" cy="3657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2608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5C5C"/>
                </a:solidFill>
              </a:rPr>
              <a:t>Sports adjacent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309067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Sports highlights shows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31012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Even without live games, SuperSport Blitz performs well. Invest in extended highlights, analysis shows, and behind-the-scenes content to satisfy sports fans between live events.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283464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2834640"/>
            <a:ext cx="278892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92608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News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37560" y="309067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CNN / international news blocks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331012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CNN maintains steady viewership across all day types. Promoting major news events or live special coverage can anchor viewership during otherwise quiet periods.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283464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2834640"/>
            <a:ext cx="278892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92608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Lifestyle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09360" y="309067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E! &amp; lifestyle programming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31012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E! Entertainment has a small but engaged audience. Reality TV marathons, themed weekends, or premiere events on low days can convert occasional to regular viewers.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BrightTV Viewership Analytics  |  Confidential  |  Slide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Growth Initiatives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Recommended actions to expand BrightTV's subscriber base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697480" cy="3657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097280"/>
            <a:ext cx="320040" cy="320040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09728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Target female subscribers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499616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Women are only 10% of the base. A targeted campaign with reality, lifestyle, and drama content can unlock a large untapped segment.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005840"/>
            <a:ext cx="2697480" cy="36576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1097280"/>
            <a:ext cx="320040" cy="32004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03320" y="109728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Re-engage 989 inactive users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0128" y="1499616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18% of registered subscribers have never watched. Push notifications with personalised content picks or free premium previews can convert them quickly.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005840"/>
            <a:ext cx="26974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097280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29400" y="109728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Social media referral programme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36208" y="1499616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Every subscriber has a social handle on file. A referral/ambassador scheme turns the existing base into a low-cost acquisition channel.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926080"/>
            <a:ext cx="269748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017520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30175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Provincial expansion strategy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4048" y="3419856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KZN, Limpopo, and Mpumalanga are underserved. Local content investment, mobile data partnerships, and affordable plans can unlock these markets.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0" y="292608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2926080"/>
            <a:ext cx="26974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10128" y="3017520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03320" y="30175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Age segment expansion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310128" y="3419856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Under-18 and over-50 are underrepresented. Kids' bundles, parental controls, and simpler UX for older subscribers open new audience tiers.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292608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2926080"/>
            <a:ext cx="269748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36208" y="3017520"/>
            <a:ext cx="320040" cy="3200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29400" y="30175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Loyalty tier for power users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36208" y="3419856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 small cohort drives the majority of watch hours (one user had 39 sessions). VIP/loyalty rewards reduce churn risk among the most valuable subscribers.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BrightTV Viewership Analytics  |  Confidential  |  Slide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2147"/>
          </a:solidFill>
          <a:ln w="12700">
            <a:solidFill>
              <a:srgbClr val="0D21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" cy="2011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Summary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66420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E0"/>
                </a:solidFill>
              </a:rPr>
              <a:t>1.  Strong momentum: sessions up 119%, hours up 188% in just 3 months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99339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E0"/>
                </a:solidFill>
              </a:rPr>
              <a:t>2.  Live sports are the single biggest consumption lever — invest in rights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32257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E0"/>
                </a:solidFill>
              </a:rPr>
              <a:t>3.  18% inactive subscribers = immediate, low-cost growth opportunity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E0"/>
                </a:solidFill>
              </a:rPr>
              <a:t>4.  Female &amp; provincial markets remain largely untapped — high upside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98094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E0"/>
                </a:solidFill>
              </a:rPr>
              <a:t>5.  Music, local drama &amp; kids' content can anchor low-traffic days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Thank you  |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Viewership Analytics</dc:title>
  <dc:subject>PptxGenJS Presentation</dc:subject>
  <dc:creator>PptxGenJS</dc:creator>
  <cp:lastModifiedBy>PptxGenJS</cp:lastModifiedBy>
  <cp:revision>1</cp:revision>
  <dcterms:created xsi:type="dcterms:W3CDTF">2026-04-18T11:26:04Z</dcterms:created>
  <dcterms:modified xsi:type="dcterms:W3CDTF">2026-04-18T11:26:04Z</dcterms:modified>
</cp:coreProperties>
</file>